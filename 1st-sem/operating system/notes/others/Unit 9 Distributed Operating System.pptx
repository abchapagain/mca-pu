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7.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1.xml" ContentType="application/vnd.openxmlformats-officedocument.presentationml.slideLayout+xml"/>
  <Override PartName="/ppt/slideLayouts/slideLayout9.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73" r:id="rId2"/>
    <p:sldId id="274" r:id="rId3"/>
    <p:sldId id="275" r:id="rId4"/>
    <p:sldId id="276" r:id="rId5"/>
    <p:sldId id="277" r:id="rId6"/>
    <p:sldId id="278" r:id="rId7"/>
    <p:sldId id="279" r:id="rId8"/>
    <p:sldId id="280" r:id="rId9"/>
    <p:sldId id="281" r:id="rId10"/>
    <p:sldId id="282" r:id="rId11"/>
    <p:sldId id="283" r:id="rId12"/>
    <p:sldId id="284" r:id="rId13"/>
    <p:sldId id="285" r:id="rId14"/>
    <p:sldId id="286" r:id="rId15"/>
    <p:sldId id="287" r:id="rId16"/>
    <p:sldId id="291" r:id="rId17"/>
    <p:sldId id="288" r:id="rId18"/>
    <p:sldId id="289" r:id="rId19"/>
    <p:sldId id="290"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0" d="100"/>
          <a:sy n="80" d="100"/>
        </p:scale>
        <p:origin x="1450" y="4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ustomXml" Target="../customXml/item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28" Type="http://schemas.openxmlformats.org/officeDocument/2006/relationships/customXml" Target="../customXml/item3.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openxmlformats.org/officeDocument/2006/relationships/customXml" Target="../customXml/item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3EFD76A-03F1-44CB-A1A0-0CAE777F441C}" type="datetimeFigureOut">
              <a:rPr lang="en-US" smtClean="0"/>
              <a:t>4/23/2021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8902F8E-46A3-4846-AB93-1E3EA2B1F322}" type="slidenum">
              <a:rPr lang="en-US" smtClean="0"/>
              <a:t>‹#›</a:t>
            </a:fld>
            <a:endParaRPr lang="en-US"/>
          </a:p>
        </p:txBody>
      </p:sp>
    </p:spTree>
    <p:extLst>
      <p:ext uri="{BB962C8B-B14F-4D97-AF65-F5344CB8AC3E}">
        <p14:creationId xmlns:p14="http://schemas.microsoft.com/office/powerpoint/2010/main" val="16492456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CFC8D173-C126-4172-8EFA-26BE71BBDC71}" type="datetimeFigureOut">
              <a:rPr lang="en-US" smtClean="0"/>
              <a:t>4/23/2021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1FAE68-1710-4D9B-9106-9AD50437154F}" type="slidenum">
              <a:rPr lang="en-US" smtClean="0"/>
              <a:t>‹#›</a:t>
            </a:fld>
            <a:endParaRPr lang="en-US"/>
          </a:p>
        </p:txBody>
      </p:sp>
    </p:spTree>
    <p:extLst>
      <p:ext uri="{BB962C8B-B14F-4D97-AF65-F5344CB8AC3E}">
        <p14:creationId xmlns:p14="http://schemas.microsoft.com/office/powerpoint/2010/main" val="38027217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FC8D173-C126-4172-8EFA-26BE71BBDC71}" type="datetimeFigureOut">
              <a:rPr lang="en-US" smtClean="0"/>
              <a:t>4/23/2021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1FAE68-1710-4D9B-9106-9AD50437154F}" type="slidenum">
              <a:rPr lang="en-US" smtClean="0"/>
              <a:t>‹#›</a:t>
            </a:fld>
            <a:endParaRPr lang="en-US"/>
          </a:p>
        </p:txBody>
      </p:sp>
    </p:spTree>
    <p:extLst>
      <p:ext uri="{BB962C8B-B14F-4D97-AF65-F5344CB8AC3E}">
        <p14:creationId xmlns:p14="http://schemas.microsoft.com/office/powerpoint/2010/main" val="6233114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FC8D173-C126-4172-8EFA-26BE71BBDC71}" type="datetimeFigureOut">
              <a:rPr lang="en-US" smtClean="0"/>
              <a:t>4/23/2021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1FAE68-1710-4D9B-9106-9AD50437154F}" type="slidenum">
              <a:rPr lang="en-US" smtClean="0"/>
              <a:t>‹#›</a:t>
            </a:fld>
            <a:endParaRPr lang="en-US"/>
          </a:p>
        </p:txBody>
      </p:sp>
    </p:spTree>
    <p:extLst>
      <p:ext uri="{BB962C8B-B14F-4D97-AF65-F5344CB8AC3E}">
        <p14:creationId xmlns:p14="http://schemas.microsoft.com/office/powerpoint/2010/main" val="21756513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CFC8D173-C126-4172-8EFA-26BE71BBDC71}" type="datetimeFigureOut">
              <a:rPr lang="en-US" smtClean="0"/>
              <a:t>4/23/2021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C1FAE68-1710-4D9B-9106-9AD50437154F}" type="slidenum">
              <a:rPr lang="en-US" smtClean="0"/>
              <a:t>‹#›</a:t>
            </a:fld>
            <a:endParaRPr lang="en-US"/>
          </a:p>
        </p:txBody>
      </p:sp>
    </p:spTree>
    <p:extLst>
      <p:ext uri="{BB962C8B-B14F-4D97-AF65-F5344CB8AC3E}">
        <p14:creationId xmlns:p14="http://schemas.microsoft.com/office/powerpoint/2010/main" val="28619121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CFC8D173-C126-4172-8EFA-26BE71BBDC71}" type="datetimeFigureOut">
              <a:rPr lang="en-US" smtClean="0"/>
              <a:t>4/23/2021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C1FAE68-1710-4D9B-9106-9AD50437154F}" type="slidenum">
              <a:rPr lang="en-US" smtClean="0"/>
              <a:t>‹#›</a:t>
            </a:fld>
            <a:endParaRPr lang="en-US"/>
          </a:p>
        </p:txBody>
      </p:sp>
    </p:spTree>
    <p:extLst>
      <p:ext uri="{BB962C8B-B14F-4D97-AF65-F5344CB8AC3E}">
        <p14:creationId xmlns:p14="http://schemas.microsoft.com/office/powerpoint/2010/main" val="26101793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FC8D173-C126-4172-8EFA-26BE71BBDC71}" type="datetimeFigureOut">
              <a:rPr lang="en-US" smtClean="0"/>
              <a:t>4/23/2021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C1FAE68-1710-4D9B-9106-9AD50437154F}" type="slidenum">
              <a:rPr lang="en-US" smtClean="0"/>
              <a:t>‹#›</a:t>
            </a:fld>
            <a:endParaRPr lang="en-US"/>
          </a:p>
        </p:txBody>
      </p:sp>
    </p:spTree>
    <p:extLst>
      <p:ext uri="{BB962C8B-B14F-4D97-AF65-F5344CB8AC3E}">
        <p14:creationId xmlns:p14="http://schemas.microsoft.com/office/powerpoint/2010/main" val="1891593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FC8D173-C126-4172-8EFA-26BE71BBDC71}" type="datetimeFigureOut">
              <a:rPr lang="en-US" smtClean="0"/>
              <a:t>4/23/2021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C1FAE68-1710-4D9B-9106-9AD50437154F}" type="slidenum">
              <a:rPr lang="en-US" smtClean="0"/>
              <a:t>‹#›</a:t>
            </a:fld>
            <a:endParaRPr lang="en-US"/>
          </a:p>
        </p:txBody>
      </p:sp>
    </p:spTree>
    <p:extLst>
      <p:ext uri="{BB962C8B-B14F-4D97-AF65-F5344CB8AC3E}">
        <p14:creationId xmlns:p14="http://schemas.microsoft.com/office/powerpoint/2010/main" val="24038067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FC8D173-C126-4172-8EFA-26BE71BBDC71}" type="datetimeFigureOut">
              <a:rPr lang="en-US" smtClean="0"/>
              <a:t>4/23/2021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C1FAE68-1710-4D9B-9106-9AD50437154F}" type="slidenum">
              <a:rPr lang="en-US" smtClean="0"/>
              <a:t>‹#›</a:t>
            </a:fld>
            <a:endParaRPr lang="en-US"/>
          </a:p>
        </p:txBody>
      </p:sp>
    </p:spTree>
    <p:extLst>
      <p:ext uri="{BB962C8B-B14F-4D97-AF65-F5344CB8AC3E}">
        <p14:creationId xmlns:p14="http://schemas.microsoft.com/office/powerpoint/2010/main" val="29862293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FC8D173-C126-4172-8EFA-26BE71BBDC71}" type="datetimeFigureOut">
              <a:rPr lang="en-US" smtClean="0"/>
              <a:t>4/23/2021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C1FAE68-1710-4D9B-9106-9AD50437154F}" type="slidenum">
              <a:rPr lang="en-US" smtClean="0"/>
              <a:t>‹#›</a:t>
            </a:fld>
            <a:endParaRPr lang="en-US"/>
          </a:p>
        </p:txBody>
      </p:sp>
    </p:spTree>
    <p:extLst>
      <p:ext uri="{BB962C8B-B14F-4D97-AF65-F5344CB8AC3E}">
        <p14:creationId xmlns:p14="http://schemas.microsoft.com/office/powerpoint/2010/main" val="29380150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FC8D173-C126-4172-8EFA-26BE71BBDC71}" type="datetimeFigureOut">
              <a:rPr lang="en-US" smtClean="0"/>
              <a:t>4/23/2021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1FAE68-1710-4D9B-9106-9AD50437154F}" type="slidenum">
              <a:rPr lang="en-US" smtClean="0"/>
              <a:t>‹#›</a:t>
            </a:fld>
            <a:endParaRPr lang="en-US"/>
          </a:p>
        </p:txBody>
      </p:sp>
    </p:spTree>
    <p:extLst>
      <p:ext uri="{BB962C8B-B14F-4D97-AF65-F5344CB8AC3E}">
        <p14:creationId xmlns:p14="http://schemas.microsoft.com/office/powerpoint/2010/main" val="40185248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FC8D173-C126-4172-8EFA-26BE71BBDC71}" type="datetimeFigureOut">
              <a:rPr lang="en-US" smtClean="0"/>
              <a:t>4/23/2021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1FAE68-1710-4D9B-9106-9AD50437154F}" type="slidenum">
              <a:rPr lang="en-US" smtClean="0"/>
              <a:t>‹#›</a:t>
            </a:fld>
            <a:endParaRPr lang="en-US"/>
          </a:p>
        </p:txBody>
      </p:sp>
    </p:spTree>
    <p:extLst>
      <p:ext uri="{BB962C8B-B14F-4D97-AF65-F5344CB8AC3E}">
        <p14:creationId xmlns:p14="http://schemas.microsoft.com/office/powerpoint/2010/main" val="1481445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FC8D173-C126-4172-8EFA-26BE71BBDC71}" type="datetimeFigureOut">
              <a:rPr lang="en-US" smtClean="0"/>
              <a:t>4/23/2021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C1FAE68-1710-4D9B-9106-9AD50437154F}" type="slidenum">
              <a:rPr lang="en-US" smtClean="0"/>
              <a:t>‹#›</a:t>
            </a:fld>
            <a:endParaRPr lang="en-US"/>
          </a:p>
        </p:txBody>
      </p:sp>
    </p:spTree>
    <p:extLst>
      <p:ext uri="{BB962C8B-B14F-4D97-AF65-F5344CB8AC3E}">
        <p14:creationId xmlns:p14="http://schemas.microsoft.com/office/powerpoint/2010/main" val="14573931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Unit 9</a:t>
            </a:r>
            <a:endParaRPr lang="en-US" dirty="0"/>
          </a:p>
        </p:txBody>
      </p:sp>
      <p:sp>
        <p:nvSpPr>
          <p:cNvPr id="3" name="Subtitle 2"/>
          <p:cNvSpPr>
            <a:spLocks noGrp="1"/>
          </p:cNvSpPr>
          <p:nvPr>
            <p:ph type="subTitle" idx="1"/>
          </p:nvPr>
        </p:nvSpPr>
        <p:spPr/>
        <p:txBody>
          <a:bodyPr/>
          <a:lstStyle/>
          <a:p>
            <a:r>
              <a:rPr lang="en-US" dirty="0" smtClean="0"/>
              <a:t>Distributed Operating System</a:t>
            </a:r>
            <a:endParaRPr lang="en-US" dirty="0"/>
          </a:p>
        </p:txBody>
      </p:sp>
    </p:spTree>
    <p:extLst>
      <p:ext uri="{BB962C8B-B14F-4D97-AF65-F5344CB8AC3E}">
        <p14:creationId xmlns:p14="http://schemas.microsoft.com/office/powerpoint/2010/main" val="30944654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Distributed System</a:t>
            </a:r>
            <a:endParaRPr lang="en-US" dirty="0"/>
          </a:p>
        </p:txBody>
      </p:sp>
      <p:sp>
        <p:nvSpPr>
          <p:cNvPr id="3" name="Content Placeholder 2"/>
          <p:cNvSpPr>
            <a:spLocks noGrp="1"/>
          </p:cNvSpPr>
          <p:nvPr>
            <p:ph idx="1"/>
          </p:nvPr>
        </p:nvSpPr>
        <p:spPr/>
        <p:txBody>
          <a:bodyPr/>
          <a:lstStyle/>
          <a:p>
            <a:pPr marL="0" indent="0" algn="just">
              <a:buNone/>
            </a:pPr>
            <a:r>
              <a:rPr lang="en-US" dirty="0"/>
              <a:t>A distributed system is a set of computers that communicate and collaborate each other using software and hardware interconnecting components</a:t>
            </a:r>
            <a:r>
              <a:rPr lang="en-US" dirty="0" smtClean="0"/>
              <a:t>.</a:t>
            </a:r>
          </a:p>
          <a:p>
            <a:pPr marL="0" indent="0" algn="just">
              <a:buNone/>
            </a:pPr>
            <a:r>
              <a:rPr lang="en-US" dirty="0" smtClean="0"/>
              <a:t>Example:</a:t>
            </a:r>
          </a:p>
          <a:p>
            <a:pPr algn="just"/>
            <a:r>
              <a:rPr lang="en-US" dirty="0"/>
              <a:t>telephone networks and cellular </a:t>
            </a:r>
            <a:r>
              <a:rPr lang="en-US" dirty="0" smtClean="0"/>
              <a:t>networks</a:t>
            </a:r>
            <a:endParaRPr lang="en-US" dirty="0"/>
          </a:p>
          <a:p>
            <a:pPr algn="just"/>
            <a:r>
              <a:rPr lang="en-US" dirty="0"/>
              <a:t>computer networks such as the </a:t>
            </a:r>
            <a:r>
              <a:rPr lang="en-US" dirty="0" smtClean="0"/>
              <a:t>Internet</a:t>
            </a:r>
          </a:p>
          <a:p>
            <a:pPr algn="just"/>
            <a:r>
              <a:rPr lang="en-US" dirty="0"/>
              <a:t>parallel computation</a:t>
            </a:r>
          </a:p>
        </p:txBody>
      </p:sp>
    </p:spTree>
    <p:extLst>
      <p:ext uri="{BB962C8B-B14F-4D97-AF65-F5344CB8AC3E}">
        <p14:creationId xmlns:p14="http://schemas.microsoft.com/office/powerpoint/2010/main" val="37774091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Distributed Operating System</a:t>
            </a:r>
            <a:endParaRPr lang="en-US" dirty="0"/>
          </a:p>
        </p:txBody>
      </p:sp>
      <p:sp>
        <p:nvSpPr>
          <p:cNvPr id="3" name="Content Placeholder 2"/>
          <p:cNvSpPr>
            <a:spLocks noGrp="1"/>
          </p:cNvSpPr>
          <p:nvPr>
            <p:ph idx="1"/>
          </p:nvPr>
        </p:nvSpPr>
        <p:spPr/>
        <p:txBody>
          <a:bodyPr>
            <a:normAutofit fontScale="70000" lnSpcReduction="20000"/>
          </a:bodyPr>
          <a:lstStyle/>
          <a:p>
            <a:pPr algn="just"/>
            <a:r>
              <a:rPr lang="en-US" dirty="0"/>
              <a:t>Distributed Operating System is a model where distributed applications are running on multiple computers linked by communications. </a:t>
            </a:r>
            <a:endParaRPr lang="en-US" dirty="0" smtClean="0"/>
          </a:p>
          <a:p>
            <a:pPr algn="just"/>
            <a:r>
              <a:rPr lang="en-US" dirty="0" smtClean="0"/>
              <a:t>A </a:t>
            </a:r>
            <a:r>
              <a:rPr lang="en-US" dirty="0"/>
              <a:t>distributed operating system is an extension of the network operating system that supports higher levels of communication and integration of the machines on the network</a:t>
            </a:r>
            <a:r>
              <a:rPr lang="en-US" dirty="0" smtClean="0"/>
              <a:t>.</a:t>
            </a:r>
          </a:p>
          <a:p>
            <a:pPr algn="just"/>
            <a:r>
              <a:rPr lang="en-US" dirty="0"/>
              <a:t>The Distributed </a:t>
            </a:r>
            <a:r>
              <a:rPr lang="en-US" dirty="0" smtClean="0"/>
              <a:t>OS </a:t>
            </a:r>
            <a:r>
              <a:rPr lang="en-US" dirty="0"/>
              <a:t>involves a collection of autonomous computer systems, capable of communicating and cooperating with each other through a LAN / WAN. </a:t>
            </a:r>
            <a:endParaRPr lang="en-US" dirty="0" smtClean="0"/>
          </a:p>
          <a:p>
            <a:pPr algn="just"/>
            <a:r>
              <a:rPr lang="en-US" dirty="0" smtClean="0"/>
              <a:t>A </a:t>
            </a:r>
            <a:r>
              <a:rPr lang="en-US" dirty="0"/>
              <a:t>Distributed </a:t>
            </a:r>
            <a:r>
              <a:rPr lang="en-US" dirty="0" smtClean="0"/>
              <a:t>OS </a:t>
            </a:r>
            <a:r>
              <a:rPr lang="en-US" dirty="0"/>
              <a:t>provides a virtual machine abstraction to its users and wide sharing of resources like as computational capacity, I/O and files etc</a:t>
            </a:r>
            <a:r>
              <a:rPr lang="en-US" dirty="0" smtClean="0"/>
              <a:t>.</a:t>
            </a:r>
          </a:p>
          <a:p>
            <a:pPr algn="just"/>
            <a:r>
              <a:rPr lang="en-US" dirty="0"/>
              <a:t>Example: Windows server </a:t>
            </a:r>
            <a:r>
              <a:rPr lang="en-US" dirty="0" smtClean="0"/>
              <a:t>2003, Windows </a:t>
            </a:r>
            <a:r>
              <a:rPr lang="en-US" dirty="0"/>
              <a:t>server </a:t>
            </a:r>
            <a:r>
              <a:rPr lang="en-US" dirty="0" smtClean="0"/>
              <a:t>2008, Windows </a:t>
            </a:r>
            <a:r>
              <a:rPr lang="en-US" dirty="0"/>
              <a:t>server </a:t>
            </a:r>
            <a:r>
              <a:rPr lang="en-US" dirty="0" smtClean="0"/>
              <a:t>2012, Ubuntu, Linux </a:t>
            </a:r>
            <a:r>
              <a:rPr lang="en-US" dirty="0"/>
              <a:t>(Apache </a:t>
            </a:r>
            <a:r>
              <a:rPr lang="en-US" dirty="0" smtClean="0"/>
              <a:t>Server), AEGIS., AMOEBA, Arachne</a:t>
            </a:r>
            <a:r>
              <a:rPr lang="en-US" dirty="0"/>
              <a:t>.</a:t>
            </a:r>
          </a:p>
        </p:txBody>
      </p:sp>
    </p:spTree>
    <p:extLst>
      <p:ext uri="{BB962C8B-B14F-4D97-AF65-F5344CB8AC3E}">
        <p14:creationId xmlns:p14="http://schemas.microsoft.com/office/powerpoint/2010/main" val="22223663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distributed system?</a:t>
            </a:r>
            <a:endParaRPr lang="en-US" dirty="0"/>
          </a:p>
        </p:txBody>
      </p:sp>
      <p:sp>
        <p:nvSpPr>
          <p:cNvPr id="3" name="Content Placeholder 2"/>
          <p:cNvSpPr>
            <a:spLocks noGrp="1"/>
          </p:cNvSpPr>
          <p:nvPr>
            <p:ph idx="1"/>
          </p:nvPr>
        </p:nvSpPr>
        <p:spPr>
          <a:xfrm>
            <a:off x="457200" y="1600200"/>
            <a:ext cx="8382000" cy="4953000"/>
          </a:xfrm>
        </p:spPr>
        <p:txBody>
          <a:bodyPr>
            <a:normAutofit fontScale="85000" lnSpcReduction="20000"/>
          </a:bodyPr>
          <a:lstStyle/>
          <a:p>
            <a:pPr algn="just"/>
            <a:r>
              <a:rPr lang="en-US" b="1" dirty="0" smtClean="0"/>
              <a:t>Resource sharing</a:t>
            </a:r>
            <a:r>
              <a:rPr lang="en-US" dirty="0" smtClean="0"/>
              <a:t>: It provides different mechanisms for sharing files remotely, processing information in a distributed database and performing many other operations.</a:t>
            </a:r>
          </a:p>
          <a:p>
            <a:pPr algn="just"/>
            <a:r>
              <a:rPr lang="en-US" b="1" dirty="0" smtClean="0"/>
              <a:t>Computation Speedup</a:t>
            </a:r>
            <a:r>
              <a:rPr lang="en-US" dirty="0" smtClean="0"/>
              <a:t>: processing can be done concurrently among various sites.</a:t>
            </a:r>
          </a:p>
          <a:p>
            <a:pPr algn="just"/>
            <a:r>
              <a:rPr lang="en-US" b="1" dirty="0" smtClean="0"/>
              <a:t>Reliability</a:t>
            </a:r>
            <a:r>
              <a:rPr lang="en-US" dirty="0" smtClean="0"/>
              <a:t>: In distributed system, if one site fails the remaining can continue. The failure of a site can be detected by the system, and actions must be implemented to recover from it.</a:t>
            </a:r>
          </a:p>
          <a:p>
            <a:pPr algn="just"/>
            <a:r>
              <a:rPr lang="en-US" b="1" dirty="0" smtClean="0"/>
              <a:t>Communication</a:t>
            </a:r>
            <a:r>
              <a:rPr lang="en-US" dirty="0" smtClean="0"/>
              <a:t>: communication with one another is done via a communication network to provide users with the opportunity to exchange information.</a:t>
            </a:r>
            <a:endParaRPr lang="en-US" dirty="0"/>
          </a:p>
        </p:txBody>
      </p:sp>
    </p:spTree>
    <p:extLst>
      <p:ext uri="{BB962C8B-B14F-4D97-AF65-F5344CB8AC3E}">
        <p14:creationId xmlns:p14="http://schemas.microsoft.com/office/powerpoint/2010/main" val="29054564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Advantages of Distributed OS</a:t>
            </a:r>
            <a:endParaRPr lang="en-US" dirty="0"/>
          </a:p>
        </p:txBody>
      </p:sp>
      <p:sp>
        <p:nvSpPr>
          <p:cNvPr id="3" name="Content Placeholder 2"/>
          <p:cNvSpPr>
            <a:spLocks noGrp="1"/>
          </p:cNvSpPr>
          <p:nvPr>
            <p:ph idx="1"/>
          </p:nvPr>
        </p:nvSpPr>
        <p:spPr/>
        <p:txBody>
          <a:bodyPr>
            <a:normAutofit fontScale="70000" lnSpcReduction="20000"/>
          </a:bodyPr>
          <a:lstStyle/>
          <a:p>
            <a:pPr algn="just"/>
            <a:r>
              <a:rPr lang="en-US" dirty="0"/>
              <a:t>With resource sharing facility, a user at one site may be able to use the resources available at another.</a:t>
            </a:r>
          </a:p>
          <a:p>
            <a:pPr algn="just"/>
            <a:endParaRPr lang="en-US" dirty="0"/>
          </a:p>
          <a:p>
            <a:pPr algn="just"/>
            <a:r>
              <a:rPr lang="en-US" dirty="0"/>
              <a:t>Speedup the exchange of data with one </a:t>
            </a:r>
            <a:r>
              <a:rPr lang="en-US" dirty="0" smtClean="0"/>
              <a:t>another.</a:t>
            </a:r>
            <a:endParaRPr lang="en-US" dirty="0"/>
          </a:p>
          <a:p>
            <a:pPr algn="just"/>
            <a:endParaRPr lang="en-US" dirty="0"/>
          </a:p>
          <a:p>
            <a:pPr algn="just"/>
            <a:r>
              <a:rPr lang="en-US" dirty="0"/>
              <a:t>Failure of one site in a distributed system doesn’t affect the others, the remaining sites can potentially continue operating.</a:t>
            </a:r>
          </a:p>
          <a:p>
            <a:pPr algn="just"/>
            <a:endParaRPr lang="en-US" dirty="0"/>
          </a:p>
          <a:p>
            <a:pPr algn="just"/>
            <a:r>
              <a:rPr lang="en-US" dirty="0"/>
              <a:t>Better service to the customers.</a:t>
            </a:r>
          </a:p>
          <a:p>
            <a:pPr algn="just"/>
            <a:endParaRPr lang="en-US" dirty="0"/>
          </a:p>
          <a:p>
            <a:pPr algn="just"/>
            <a:r>
              <a:rPr lang="en-US" dirty="0"/>
              <a:t>Reduction of the load on the host computer.</a:t>
            </a:r>
          </a:p>
          <a:p>
            <a:pPr algn="just"/>
            <a:endParaRPr lang="en-US" dirty="0"/>
          </a:p>
          <a:p>
            <a:pPr algn="just"/>
            <a:r>
              <a:rPr lang="en-US" dirty="0"/>
              <a:t>Reduction of delays in data processing.</a:t>
            </a:r>
          </a:p>
        </p:txBody>
      </p:sp>
    </p:spTree>
    <p:extLst>
      <p:ext uri="{BB962C8B-B14F-4D97-AF65-F5344CB8AC3E}">
        <p14:creationId xmlns:p14="http://schemas.microsoft.com/office/powerpoint/2010/main" val="94746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Disadvantages of Distributed OS</a:t>
            </a:r>
            <a:endParaRPr lang="en-US" dirty="0"/>
          </a:p>
        </p:txBody>
      </p:sp>
      <p:sp>
        <p:nvSpPr>
          <p:cNvPr id="3" name="Content Placeholder 2"/>
          <p:cNvSpPr>
            <a:spLocks noGrp="1"/>
          </p:cNvSpPr>
          <p:nvPr>
            <p:ph idx="1"/>
          </p:nvPr>
        </p:nvSpPr>
        <p:spPr/>
        <p:txBody>
          <a:bodyPr/>
          <a:lstStyle/>
          <a:p>
            <a:pPr algn="just"/>
            <a:r>
              <a:rPr lang="en-US" dirty="0" smtClean="0"/>
              <a:t>Security problem due to sharing.</a:t>
            </a:r>
          </a:p>
          <a:p>
            <a:pPr algn="just"/>
            <a:r>
              <a:rPr lang="en-US" dirty="0" smtClean="0"/>
              <a:t>Bandwidth is another issue if there is large data and large number of computers.</a:t>
            </a:r>
          </a:p>
          <a:p>
            <a:pPr algn="just"/>
            <a:r>
              <a:rPr lang="en-US" dirty="0" smtClean="0"/>
              <a:t>Overloading is another problem in distributed OS.</a:t>
            </a:r>
          </a:p>
          <a:p>
            <a:pPr algn="just"/>
            <a:r>
              <a:rPr lang="en-US" dirty="0" smtClean="0"/>
              <a:t>The databases in network is difficult to administrate then single user system.</a:t>
            </a:r>
          </a:p>
        </p:txBody>
      </p:sp>
    </p:spTree>
    <p:extLst>
      <p:ext uri="{BB962C8B-B14F-4D97-AF65-F5344CB8AC3E}">
        <p14:creationId xmlns:p14="http://schemas.microsoft.com/office/powerpoint/2010/main" val="11844245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Advantages of Distributed system over Independent PCs</a:t>
            </a:r>
            <a:endParaRPr lang="en-US" dirty="0"/>
          </a:p>
        </p:txBody>
      </p:sp>
      <p:sp>
        <p:nvSpPr>
          <p:cNvPr id="3" name="Content Placeholder 2"/>
          <p:cNvSpPr>
            <a:spLocks noGrp="1"/>
          </p:cNvSpPr>
          <p:nvPr>
            <p:ph idx="1"/>
          </p:nvPr>
        </p:nvSpPr>
        <p:spPr/>
        <p:txBody>
          <a:bodyPr>
            <a:normAutofit fontScale="92500"/>
          </a:bodyPr>
          <a:lstStyle/>
          <a:p>
            <a:pPr marL="0" indent="0" algn="just">
              <a:buNone/>
            </a:pPr>
            <a:r>
              <a:rPr lang="en-US" b="1" dirty="0" smtClean="0"/>
              <a:t>Data sharing: </a:t>
            </a:r>
            <a:r>
              <a:rPr lang="en-US" dirty="0" smtClean="0"/>
              <a:t>Allow </a:t>
            </a:r>
            <a:r>
              <a:rPr lang="en-US" dirty="0"/>
              <a:t>many users access to a common data </a:t>
            </a:r>
            <a:r>
              <a:rPr lang="en-US" dirty="0" smtClean="0"/>
              <a:t>base.</a:t>
            </a:r>
            <a:endParaRPr lang="en-US" dirty="0"/>
          </a:p>
          <a:p>
            <a:pPr marL="0" indent="0" algn="just">
              <a:buNone/>
            </a:pPr>
            <a:r>
              <a:rPr lang="en-US" b="1" dirty="0" smtClean="0"/>
              <a:t>Device sharing: </a:t>
            </a:r>
            <a:r>
              <a:rPr lang="en-US" dirty="0" smtClean="0"/>
              <a:t>Allow </a:t>
            </a:r>
            <a:r>
              <a:rPr lang="en-US" dirty="0"/>
              <a:t>many users to share expensive peripherals like color </a:t>
            </a:r>
            <a:r>
              <a:rPr lang="en-US" dirty="0" smtClean="0"/>
              <a:t>printers.</a:t>
            </a:r>
            <a:endParaRPr lang="en-US" dirty="0"/>
          </a:p>
          <a:p>
            <a:pPr marL="0" indent="0" algn="just">
              <a:buNone/>
            </a:pPr>
            <a:r>
              <a:rPr lang="en-US" b="1" dirty="0" smtClean="0"/>
              <a:t>Communication: </a:t>
            </a:r>
            <a:r>
              <a:rPr lang="en-US" dirty="0" smtClean="0"/>
              <a:t>Make </a:t>
            </a:r>
            <a:r>
              <a:rPr lang="en-US" dirty="0"/>
              <a:t>human to human communication easier, for example, by electronic </a:t>
            </a:r>
            <a:r>
              <a:rPr lang="en-US" dirty="0" smtClean="0"/>
              <a:t>mail.</a:t>
            </a:r>
            <a:endParaRPr lang="en-US" dirty="0"/>
          </a:p>
          <a:p>
            <a:pPr marL="0" indent="0" algn="just">
              <a:buNone/>
            </a:pPr>
            <a:r>
              <a:rPr lang="en-US" b="1" dirty="0" smtClean="0"/>
              <a:t>Flexibility: </a:t>
            </a:r>
            <a:r>
              <a:rPr lang="en-US" dirty="0" smtClean="0"/>
              <a:t>Spread </a:t>
            </a:r>
            <a:r>
              <a:rPr lang="en-US" dirty="0"/>
              <a:t>the workload over the available machines in the most cost effective </a:t>
            </a:r>
            <a:r>
              <a:rPr lang="en-US" dirty="0" smtClean="0"/>
              <a:t>way.</a:t>
            </a:r>
            <a:endParaRPr lang="en-US" dirty="0"/>
          </a:p>
          <a:p>
            <a:pPr algn="just"/>
            <a:endParaRPr lang="en-US" dirty="0"/>
          </a:p>
        </p:txBody>
      </p:sp>
    </p:spTree>
    <p:extLst>
      <p:ext uri="{BB962C8B-B14F-4D97-AF65-F5344CB8AC3E}">
        <p14:creationId xmlns:p14="http://schemas.microsoft.com/office/powerpoint/2010/main" val="25595682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Hardware and Software Concepts</a:t>
            </a:r>
            <a:endParaRPr lang="en-US" dirty="0"/>
          </a:p>
        </p:txBody>
      </p:sp>
      <p:sp>
        <p:nvSpPr>
          <p:cNvPr id="3" name="Content Placeholder 2"/>
          <p:cNvSpPr>
            <a:spLocks noGrp="1"/>
          </p:cNvSpPr>
          <p:nvPr>
            <p:ph idx="1"/>
          </p:nvPr>
        </p:nvSpPr>
        <p:spPr/>
        <p:txBody>
          <a:bodyPr/>
          <a:lstStyle/>
          <a:p>
            <a:pPr marL="0" indent="0" algn="just">
              <a:buNone/>
            </a:pPr>
            <a:r>
              <a:rPr lang="en-US" b="1" dirty="0"/>
              <a:t>Hardware concepts :-</a:t>
            </a:r>
          </a:p>
          <a:p>
            <a:pPr marL="0" indent="0" algn="just">
              <a:buNone/>
            </a:pPr>
            <a:r>
              <a:rPr lang="en-US" dirty="0"/>
              <a:t>Hardware in Distributed Systems can be organized in several different ways:</a:t>
            </a:r>
          </a:p>
          <a:p>
            <a:pPr algn="just"/>
            <a:r>
              <a:rPr lang="en-US" dirty="0"/>
              <a:t>Shared Memory </a:t>
            </a:r>
            <a:r>
              <a:rPr lang="en-US" dirty="0" smtClean="0"/>
              <a:t>(</a:t>
            </a:r>
            <a:r>
              <a:rPr lang="en-US" dirty="0"/>
              <a:t>Multiprocessors , which have a single address space).</a:t>
            </a:r>
          </a:p>
          <a:p>
            <a:pPr algn="just"/>
            <a:r>
              <a:rPr lang="en-US" dirty="0"/>
              <a:t>Private Memory (</a:t>
            </a:r>
            <a:r>
              <a:rPr lang="en-US" dirty="0" err="1"/>
              <a:t>Multicomputers</a:t>
            </a:r>
            <a:r>
              <a:rPr lang="en-US" dirty="0"/>
              <a:t>, each CPU has a direct connection to its local memory).</a:t>
            </a:r>
          </a:p>
          <a:p>
            <a:pPr algn="just"/>
            <a:endParaRPr lang="en-US" dirty="0"/>
          </a:p>
        </p:txBody>
      </p:sp>
    </p:spTree>
    <p:extLst>
      <p:ext uri="{BB962C8B-B14F-4D97-AF65-F5344CB8AC3E}">
        <p14:creationId xmlns:p14="http://schemas.microsoft.com/office/powerpoint/2010/main" val="25447390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Hardware Concepts (Contd..)</a:t>
            </a:r>
            <a:endParaRPr lang="en-US" dirty="0"/>
          </a:p>
        </p:txBody>
      </p:sp>
      <p:pic>
        <p:nvPicPr>
          <p:cNvPr id="4" name="Picture 2" descr="C:\Users\psuba\Desktop\hns.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90600" y="1295399"/>
            <a:ext cx="7393218" cy="52682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32829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Hardware Concepts (Contd..)</a:t>
            </a:r>
          </a:p>
        </p:txBody>
      </p:sp>
      <p:sp>
        <p:nvSpPr>
          <p:cNvPr id="3" name="Content Placeholder 2"/>
          <p:cNvSpPr>
            <a:spLocks noGrp="1"/>
          </p:cNvSpPr>
          <p:nvPr>
            <p:ph idx="1"/>
          </p:nvPr>
        </p:nvSpPr>
        <p:spPr/>
        <p:txBody>
          <a:bodyPr/>
          <a:lstStyle/>
          <a:p>
            <a:pPr marL="0" indent="0">
              <a:buNone/>
            </a:pPr>
            <a:r>
              <a:rPr lang="en-US" b="1" dirty="0"/>
              <a:t>Multiprocessors – Bus Based</a:t>
            </a:r>
            <a:endParaRPr lang="en-US" dirty="0"/>
          </a:p>
          <a:p>
            <a:pPr marL="0" indent="0">
              <a:buNone/>
            </a:pPr>
            <a:r>
              <a:rPr lang="en-US" dirty="0"/>
              <a:t>Have limited scalability</a:t>
            </a:r>
          </a:p>
          <a:p>
            <a:pPr marL="0" indent="0">
              <a:buNone/>
            </a:pPr>
            <a:r>
              <a:rPr lang="en-US" dirty="0"/>
              <a:t>Cache Memory help avoid bus </a:t>
            </a:r>
            <a:r>
              <a:rPr lang="en-US" dirty="0" smtClean="0"/>
              <a:t>overloading</a:t>
            </a:r>
          </a:p>
          <a:p>
            <a:pPr marL="0" indent="0">
              <a:buNone/>
            </a:pPr>
            <a:endParaRPr lang="en-US" dirty="0"/>
          </a:p>
          <a:p>
            <a:pPr marL="0" indent="0">
              <a:buNone/>
            </a:pPr>
            <a:endParaRPr lang="en-US" dirty="0"/>
          </a:p>
        </p:txBody>
      </p:sp>
      <p:pic>
        <p:nvPicPr>
          <p:cNvPr id="4" name="Picture 3" descr="C:\Users\psuba\Desktop\bus.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052" y="3886200"/>
            <a:ext cx="8132323" cy="1447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63603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Hardware Concepts (Contd..)</a:t>
            </a:r>
          </a:p>
        </p:txBody>
      </p:sp>
      <p:sp>
        <p:nvSpPr>
          <p:cNvPr id="3" name="Content Placeholder 2"/>
          <p:cNvSpPr>
            <a:spLocks noGrp="1"/>
          </p:cNvSpPr>
          <p:nvPr>
            <p:ph idx="1"/>
          </p:nvPr>
        </p:nvSpPr>
        <p:spPr>
          <a:xfrm>
            <a:off x="457200" y="1600200"/>
            <a:ext cx="8382000" cy="4724400"/>
          </a:xfrm>
        </p:spPr>
        <p:txBody>
          <a:bodyPr/>
          <a:lstStyle/>
          <a:p>
            <a:pPr marL="0" indent="0" algn="just">
              <a:buNone/>
            </a:pPr>
            <a:r>
              <a:rPr lang="en-US" sz="2000" b="1" dirty="0"/>
              <a:t>Multiprocessors – Switch Based</a:t>
            </a:r>
          </a:p>
          <a:p>
            <a:pPr marL="0" indent="0" algn="just">
              <a:buNone/>
            </a:pPr>
            <a:r>
              <a:rPr lang="en-US" sz="2000" dirty="0"/>
              <a:t>Different CPUs can access different memories simultaneously</a:t>
            </a:r>
          </a:p>
          <a:p>
            <a:pPr marL="0" indent="0" algn="just">
              <a:buNone/>
            </a:pPr>
            <a:r>
              <a:rPr lang="en-US" sz="2000" dirty="0"/>
              <a:t>The number of switches limits the number of CPUs that can access memory simultaneously.</a:t>
            </a:r>
          </a:p>
          <a:p>
            <a:pPr marL="0" indent="0" algn="just">
              <a:buNone/>
            </a:pPr>
            <a:r>
              <a:rPr lang="en-US" sz="2000" dirty="0"/>
              <a:t>          a) A crossbar switch</a:t>
            </a:r>
          </a:p>
          <a:p>
            <a:pPr marL="0" indent="0" algn="just">
              <a:buNone/>
            </a:pPr>
            <a:r>
              <a:rPr lang="en-US" sz="2000" dirty="0"/>
              <a:t>          b) An omega switching </a:t>
            </a:r>
            <a:r>
              <a:rPr lang="en-US" sz="2000" dirty="0" smtClean="0"/>
              <a:t>network</a:t>
            </a:r>
          </a:p>
          <a:p>
            <a:pPr marL="0" indent="0" algn="just">
              <a:buNone/>
            </a:pPr>
            <a:endParaRPr lang="en-US" dirty="0"/>
          </a:p>
          <a:p>
            <a:pPr marL="0" indent="0" algn="just">
              <a:buNone/>
            </a:pPr>
            <a:endParaRPr lang="en-US" dirty="0" smtClean="0"/>
          </a:p>
          <a:p>
            <a:pPr marL="0" indent="0" algn="just">
              <a:buNone/>
            </a:pPr>
            <a:endParaRPr lang="en-US" dirty="0"/>
          </a:p>
          <a:p>
            <a:pPr marL="0" indent="0" algn="just">
              <a:buNone/>
            </a:pPr>
            <a:endParaRPr lang="en-US" dirty="0"/>
          </a:p>
        </p:txBody>
      </p:sp>
      <p:pic>
        <p:nvPicPr>
          <p:cNvPr id="4" name="Picture 2" descr="C:\Users\psuba\Desktop\cross.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3733800"/>
            <a:ext cx="5438123" cy="2809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46954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Hardware Concepts (Contd..)</a:t>
            </a:r>
          </a:p>
        </p:txBody>
      </p:sp>
      <p:sp>
        <p:nvSpPr>
          <p:cNvPr id="3" name="Content Placeholder 2"/>
          <p:cNvSpPr>
            <a:spLocks noGrp="1"/>
          </p:cNvSpPr>
          <p:nvPr>
            <p:ph idx="1"/>
          </p:nvPr>
        </p:nvSpPr>
        <p:spPr>
          <a:xfrm>
            <a:off x="457200" y="1600200"/>
            <a:ext cx="8382000" cy="4800600"/>
          </a:xfrm>
        </p:spPr>
        <p:txBody>
          <a:bodyPr>
            <a:normAutofit fontScale="55000" lnSpcReduction="20000"/>
          </a:bodyPr>
          <a:lstStyle/>
          <a:p>
            <a:pPr marL="0" lvl="0" indent="0" algn="just" fontAlgn="base">
              <a:spcBef>
                <a:spcPct val="0"/>
              </a:spcBef>
              <a:spcAft>
                <a:spcPct val="0"/>
              </a:spcAft>
              <a:buNone/>
            </a:pPr>
            <a:r>
              <a:rPr lang="en-US" sz="4000" b="1" dirty="0" err="1">
                <a:solidFill>
                  <a:srgbClr val="222222"/>
                </a:solidFill>
                <a:latin typeface="Georgia" pitchFamily="18" charset="0"/>
                <a:cs typeface="Arial" pitchFamily="34" charset="0"/>
              </a:rPr>
              <a:t>Multicomputers</a:t>
            </a:r>
            <a:r>
              <a:rPr lang="en-US" sz="4000" b="1" dirty="0">
                <a:solidFill>
                  <a:srgbClr val="222222"/>
                </a:solidFill>
                <a:latin typeface="Georgia" pitchFamily="18" charset="0"/>
                <a:cs typeface="Arial" pitchFamily="34" charset="0"/>
              </a:rPr>
              <a:t> :-</a:t>
            </a:r>
            <a:r>
              <a:rPr lang="en-US" dirty="0">
                <a:solidFill>
                  <a:srgbClr val="222222"/>
                </a:solidFill>
                <a:latin typeface="Georgia" pitchFamily="18" charset="0"/>
                <a:cs typeface="Arial" pitchFamily="34" charset="0"/>
              </a:rPr>
              <a:t/>
            </a:r>
            <a:br>
              <a:rPr lang="en-US" dirty="0">
                <a:solidFill>
                  <a:srgbClr val="222222"/>
                </a:solidFill>
                <a:latin typeface="Georgia" pitchFamily="18" charset="0"/>
                <a:cs typeface="Arial" pitchFamily="34" charset="0"/>
              </a:rPr>
            </a:br>
            <a:endParaRPr lang="en-US" sz="1400" dirty="0">
              <a:latin typeface="Arial" pitchFamily="34" charset="0"/>
              <a:cs typeface="Arial" pitchFamily="34" charset="0"/>
            </a:endParaRPr>
          </a:p>
          <a:p>
            <a:pPr marL="0" lvl="0" indent="0" algn="just" eaLnBrk="0" fontAlgn="base" hangingPunct="0">
              <a:spcBef>
                <a:spcPct val="0"/>
              </a:spcBef>
              <a:spcAft>
                <a:spcPct val="0"/>
              </a:spcAft>
              <a:buNone/>
            </a:pPr>
            <a:r>
              <a:rPr lang="en-US" b="1" dirty="0">
                <a:solidFill>
                  <a:srgbClr val="222222"/>
                </a:solidFill>
                <a:latin typeface="Georgia" pitchFamily="18" charset="0"/>
                <a:cs typeface="Arial" pitchFamily="34" charset="0"/>
              </a:rPr>
              <a:t>Homogeneous:</a:t>
            </a:r>
            <a:endParaRPr lang="en-US" sz="1400" dirty="0">
              <a:latin typeface="Arial" pitchFamily="34" charset="0"/>
              <a:cs typeface="Arial" pitchFamily="34" charset="0"/>
            </a:endParaRPr>
          </a:p>
          <a:p>
            <a:pPr algn="just" eaLnBrk="0" fontAlgn="base" hangingPunct="0">
              <a:spcBef>
                <a:spcPct val="0"/>
              </a:spcBef>
              <a:spcAft>
                <a:spcPct val="0"/>
              </a:spcAft>
            </a:pPr>
            <a:r>
              <a:rPr lang="en-US" sz="3300" dirty="0"/>
              <a:t>Connected through a broadcast shared multi access network (like Ethernet) in bus based systems;</a:t>
            </a:r>
          </a:p>
          <a:p>
            <a:pPr eaLnBrk="0" fontAlgn="base" hangingPunct="0">
              <a:spcBef>
                <a:spcPct val="0"/>
              </a:spcBef>
              <a:spcAft>
                <a:spcPct val="0"/>
              </a:spcAft>
            </a:pPr>
            <a:r>
              <a:rPr lang="en-US" sz="3300" dirty="0"/>
              <a:t>Messages routed through an </a:t>
            </a:r>
            <a:r>
              <a:rPr lang="en-US" sz="3300" dirty="0" err="1"/>
              <a:t>interconnectionn</a:t>
            </a:r>
            <a:r>
              <a:rPr lang="en-US" sz="3300" dirty="0"/>
              <a:t> network in switch-based </a:t>
            </a:r>
            <a:r>
              <a:rPr lang="en-US" sz="3300" dirty="0" err="1"/>
              <a:t>multicomputers</a:t>
            </a:r>
            <a:r>
              <a:rPr lang="en-US" sz="3300" dirty="0"/>
              <a:t> (e.g., grids, </a:t>
            </a:r>
            <a:r>
              <a:rPr lang="en-US" sz="3300" dirty="0" err="1"/>
              <a:t>hipercubes</a:t>
            </a:r>
            <a:r>
              <a:rPr lang="en-US" sz="3300" dirty="0"/>
              <a:t>…).</a:t>
            </a:r>
            <a:br>
              <a:rPr lang="en-US" sz="3300" dirty="0"/>
            </a:br>
            <a:endParaRPr lang="en-US" sz="3300" dirty="0"/>
          </a:p>
          <a:p>
            <a:pPr algn="just" eaLnBrk="0" fontAlgn="base" hangingPunct="0">
              <a:spcBef>
                <a:spcPct val="0"/>
              </a:spcBef>
              <a:spcAft>
                <a:spcPct val="0"/>
              </a:spcAft>
            </a:pPr>
            <a:r>
              <a:rPr lang="en-US" sz="3300" dirty="0"/>
              <a:t>All CPUs and memory are identical</a:t>
            </a:r>
            <a:r>
              <a:rPr lang="en-US" sz="3300" dirty="0"/>
              <a:t>;</a:t>
            </a:r>
          </a:p>
          <a:p>
            <a:pPr marL="0" indent="0">
              <a:buNone/>
            </a:pPr>
            <a:endParaRPr lang="en-US" b="1" dirty="0" smtClean="0"/>
          </a:p>
          <a:p>
            <a:pPr marL="0" indent="0">
              <a:buNone/>
            </a:pPr>
            <a:r>
              <a:rPr lang="en-US" b="1" dirty="0">
                <a:solidFill>
                  <a:srgbClr val="222222"/>
                </a:solidFill>
                <a:latin typeface="Georgia" pitchFamily="18" charset="0"/>
                <a:cs typeface="Arial" pitchFamily="34" charset="0"/>
              </a:rPr>
              <a:t>Heterogeneous</a:t>
            </a:r>
            <a:r>
              <a:rPr lang="en-US" b="1" dirty="0">
                <a:solidFill>
                  <a:srgbClr val="222222"/>
                </a:solidFill>
                <a:latin typeface="Georgia" pitchFamily="18" charset="0"/>
                <a:cs typeface="Arial" pitchFamily="34" charset="0"/>
              </a:rPr>
              <a:t>:</a:t>
            </a:r>
          </a:p>
          <a:p>
            <a:r>
              <a:rPr lang="en-US" dirty="0"/>
              <a:t>The most usual topology;</a:t>
            </a:r>
          </a:p>
          <a:p>
            <a:r>
              <a:rPr lang="en-US" dirty="0"/>
              <a:t>Computers may vary widely with respect to processor type, memory size, I/O bandwidth;</a:t>
            </a:r>
          </a:p>
          <a:p>
            <a:r>
              <a:rPr lang="en-US" dirty="0"/>
              <a:t>Connections are also diverse (a single multicomputer can simultaneously use LANs, Wide Area ATM, and frame relay networks);</a:t>
            </a:r>
          </a:p>
          <a:p>
            <a:r>
              <a:rPr lang="en-US" dirty="0"/>
              <a:t>Sophisticated software is needed to build applications due to the inherent heterogeneity;</a:t>
            </a:r>
          </a:p>
          <a:p>
            <a:r>
              <a:rPr lang="en-US" dirty="0"/>
              <a:t>Examples: </a:t>
            </a:r>
            <a:r>
              <a:rPr lang="en-US" dirty="0" err="1"/>
              <a:t>SETI@home</a:t>
            </a:r>
            <a:r>
              <a:rPr lang="en-US" dirty="0"/>
              <a:t>, WWW…</a:t>
            </a:r>
          </a:p>
          <a:p>
            <a:pPr marL="0" lvl="0" indent="0" algn="just" eaLnBrk="0" fontAlgn="base" hangingPunct="0">
              <a:spcBef>
                <a:spcPct val="0"/>
              </a:spcBef>
              <a:spcAft>
                <a:spcPct val="0"/>
              </a:spcAft>
              <a:buNone/>
            </a:pPr>
            <a:endParaRPr lang="en-US" dirty="0">
              <a:solidFill>
                <a:srgbClr val="222222"/>
              </a:solidFill>
              <a:latin typeface="Georgia" pitchFamily="18" charset="0"/>
              <a:cs typeface="Arial" pitchFamily="34" charset="0"/>
            </a:endParaRPr>
          </a:p>
          <a:p>
            <a:pPr marL="0" indent="0" algn="just">
              <a:buNone/>
            </a:pPr>
            <a:endParaRPr lang="en-US" dirty="0"/>
          </a:p>
        </p:txBody>
      </p:sp>
    </p:spTree>
    <p:extLst>
      <p:ext uri="{BB962C8B-B14F-4D97-AF65-F5344CB8AC3E}">
        <p14:creationId xmlns:p14="http://schemas.microsoft.com/office/powerpoint/2010/main" val="12019000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Software Concepts</a:t>
            </a:r>
            <a:endParaRPr lang="en-US" dirty="0"/>
          </a:p>
        </p:txBody>
      </p:sp>
      <p:sp>
        <p:nvSpPr>
          <p:cNvPr id="3" name="Content Placeholder 2"/>
          <p:cNvSpPr>
            <a:spLocks noGrp="1"/>
          </p:cNvSpPr>
          <p:nvPr>
            <p:ph idx="1"/>
          </p:nvPr>
        </p:nvSpPr>
        <p:spPr>
          <a:xfrm>
            <a:off x="457200" y="1600200"/>
            <a:ext cx="8305800" cy="4800600"/>
          </a:xfrm>
        </p:spPr>
        <p:txBody>
          <a:bodyPr>
            <a:normAutofit fontScale="92500" lnSpcReduction="20000"/>
          </a:bodyPr>
          <a:lstStyle/>
          <a:p>
            <a:pPr algn="just"/>
            <a:r>
              <a:rPr lang="en-US" dirty="0"/>
              <a:t>An OS acts as a resource manager or an arbitrator : Manages CPU, I/O devices, memory</a:t>
            </a:r>
          </a:p>
          <a:p>
            <a:pPr algn="just"/>
            <a:r>
              <a:rPr lang="en-US" dirty="0"/>
              <a:t>OS provides a virtual interface that is easier to use than hardware</a:t>
            </a:r>
          </a:p>
          <a:p>
            <a:pPr algn="just"/>
            <a:r>
              <a:rPr lang="en-US" dirty="0"/>
              <a:t>Structure of uniprocessor operating systems: Monolithic (e.g., MS-DOS, early UNIX)</a:t>
            </a:r>
          </a:p>
          <a:p>
            <a:pPr algn="just"/>
            <a:r>
              <a:rPr lang="en-US" dirty="0"/>
              <a:t>One large kernel that handles everything: Layered design</a:t>
            </a:r>
          </a:p>
          <a:p>
            <a:pPr algn="just"/>
            <a:r>
              <a:rPr lang="en-US" dirty="0"/>
              <a:t>Functionality is decomposed into N layers</a:t>
            </a:r>
          </a:p>
          <a:p>
            <a:pPr algn="just"/>
            <a:r>
              <a:rPr lang="en-US" dirty="0"/>
              <a:t>Each layer uses services of layer N-1 and implements new service(s) for layer N+1</a:t>
            </a:r>
          </a:p>
          <a:p>
            <a:pPr algn="just"/>
            <a:endParaRPr lang="en-US" dirty="0"/>
          </a:p>
        </p:txBody>
      </p:sp>
    </p:spTree>
    <p:extLst>
      <p:ext uri="{BB962C8B-B14F-4D97-AF65-F5344CB8AC3E}">
        <p14:creationId xmlns:p14="http://schemas.microsoft.com/office/powerpoint/2010/main" val="25921047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Communication in Distributed System</a:t>
            </a:r>
            <a:endParaRPr lang="en-US" dirty="0"/>
          </a:p>
        </p:txBody>
      </p:sp>
      <p:sp>
        <p:nvSpPr>
          <p:cNvPr id="3" name="Content Placeholder 2"/>
          <p:cNvSpPr>
            <a:spLocks noGrp="1"/>
          </p:cNvSpPr>
          <p:nvPr>
            <p:ph idx="1"/>
          </p:nvPr>
        </p:nvSpPr>
        <p:spPr>
          <a:xfrm>
            <a:off x="457200" y="1600200"/>
            <a:ext cx="8382000" cy="4876800"/>
          </a:xfrm>
        </p:spPr>
        <p:txBody>
          <a:bodyPr>
            <a:normAutofit fontScale="85000" lnSpcReduction="10000"/>
          </a:bodyPr>
          <a:lstStyle/>
          <a:p>
            <a:pPr marL="0" indent="0">
              <a:buNone/>
            </a:pPr>
            <a:r>
              <a:rPr lang="en-US" dirty="0" smtClean="0"/>
              <a:t>There are two approaches for communication in distributed system:</a:t>
            </a:r>
          </a:p>
          <a:p>
            <a:pPr marL="514350" indent="-514350">
              <a:buAutoNum type="arabicPeriod"/>
            </a:pPr>
            <a:r>
              <a:rPr lang="en-US" dirty="0" smtClean="0"/>
              <a:t>Shared memory</a:t>
            </a:r>
          </a:p>
          <a:p>
            <a:pPr marL="514350" indent="-514350">
              <a:buAutoNum type="arabicPeriod"/>
            </a:pPr>
            <a:r>
              <a:rPr lang="en-US" dirty="0" smtClean="0"/>
              <a:t>Message passing</a:t>
            </a:r>
          </a:p>
          <a:p>
            <a:pPr marL="0" indent="0">
              <a:buNone/>
            </a:pPr>
            <a:endParaRPr lang="en-US" dirty="0"/>
          </a:p>
          <a:p>
            <a:pPr marL="0" indent="0">
              <a:buNone/>
            </a:pPr>
            <a:r>
              <a:rPr lang="en-US" b="1" dirty="0" smtClean="0"/>
              <a:t>Shared memory</a:t>
            </a:r>
            <a:r>
              <a:rPr lang="en-US" dirty="0" smtClean="0"/>
              <a:t>:</a:t>
            </a:r>
          </a:p>
          <a:p>
            <a:pPr marL="0" indent="0">
              <a:buNone/>
            </a:pPr>
            <a:r>
              <a:rPr lang="en-US" dirty="0" smtClean="0"/>
              <a:t>Distributed shared memory is a form of memory architecture where physically separated memories can be addressed as one logically shared address space. Here the term shared doesn’t mean that there is a single centralized memory, but that the address space is shared</a:t>
            </a:r>
            <a:endParaRPr lang="en-US" dirty="0"/>
          </a:p>
        </p:txBody>
      </p:sp>
    </p:spTree>
    <p:extLst>
      <p:ext uri="{BB962C8B-B14F-4D97-AF65-F5344CB8AC3E}">
        <p14:creationId xmlns:p14="http://schemas.microsoft.com/office/powerpoint/2010/main" val="8970106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Communication in Distributed </a:t>
            </a:r>
            <a:r>
              <a:rPr lang="en-US" dirty="0" smtClean="0"/>
              <a:t>System (</a:t>
            </a:r>
            <a:r>
              <a:rPr lang="en-US" dirty="0" err="1" smtClean="0"/>
              <a:t>Contd</a:t>
            </a:r>
            <a:r>
              <a:rPr lang="en-US" dirty="0" smtClean="0"/>
              <a:t>…)</a:t>
            </a:r>
            <a:endParaRPr lang="en-US" dirty="0"/>
          </a:p>
        </p:txBody>
      </p:sp>
      <p:sp>
        <p:nvSpPr>
          <p:cNvPr id="3" name="Content Placeholder 2"/>
          <p:cNvSpPr>
            <a:spLocks noGrp="1"/>
          </p:cNvSpPr>
          <p:nvPr>
            <p:ph idx="1"/>
          </p:nvPr>
        </p:nvSpPr>
        <p:spPr>
          <a:xfrm>
            <a:off x="457200" y="1600200"/>
            <a:ext cx="8229600" cy="4800600"/>
          </a:xfrm>
        </p:spPr>
        <p:txBody>
          <a:bodyPr>
            <a:normAutofit fontScale="47500" lnSpcReduction="20000"/>
          </a:bodyPr>
          <a:lstStyle/>
          <a:p>
            <a:pPr marL="0" indent="0">
              <a:buNone/>
            </a:pPr>
            <a:r>
              <a:rPr lang="en-US" b="1" dirty="0" smtClean="0"/>
              <a:t>Message passing</a:t>
            </a:r>
            <a:r>
              <a:rPr lang="en-US" dirty="0" smtClean="0"/>
              <a:t>:</a:t>
            </a:r>
          </a:p>
          <a:p>
            <a:pPr marL="0" indent="0">
              <a:buNone/>
            </a:pPr>
            <a:endParaRPr lang="en-US" dirty="0" smtClean="0"/>
          </a:p>
          <a:p>
            <a:pPr marL="0" indent="0">
              <a:buNone/>
            </a:pPr>
            <a:r>
              <a:rPr lang="en-US" dirty="0" smtClean="0"/>
              <a:t>It </a:t>
            </a:r>
            <a:r>
              <a:rPr lang="en-US" dirty="0"/>
              <a:t>refers to means of communication between</a:t>
            </a:r>
          </a:p>
          <a:p>
            <a:pPr marL="0" indent="0">
              <a:buNone/>
            </a:pPr>
            <a:r>
              <a:rPr lang="en-US" dirty="0"/>
              <a:t>- Different thread with in a process .</a:t>
            </a:r>
          </a:p>
          <a:p>
            <a:pPr marL="0" indent="0">
              <a:buNone/>
            </a:pPr>
            <a:r>
              <a:rPr lang="en-US" dirty="0"/>
              <a:t>- Different processes running on same node.</a:t>
            </a:r>
          </a:p>
          <a:p>
            <a:pPr marL="0" indent="0">
              <a:buNone/>
            </a:pPr>
            <a:r>
              <a:rPr lang="en-US" dirty="0"/>
              <a:t>- Different processes running on different node.</a:t>
            </a:r>
          </a:p>
          <a:p>
            <a:pPr marL="0" indent="0">
              <a:buNone/>
            </a:pPr>
            <a:r>
              <a:rPr lang="en-US" dirty="0"/>
              <a:t>In this a sender or a source process send a message to a non receiver or destination process. Message has a predefined structure and message passing uses two system call: Send and Receive</a:t>
            </a:r>
          </a:p>
          <a:p>
            <a:pPr marL="0" indent="0">
              <a:buNone/>
            </a:pPr>
            <a:r>
              <a:rPr lang="en-US" dirty="0"/>
              <a:t>send(name of destination process, message);</a:t>
            </a:r>
          </a:p>
          <a:p>
            <a:pPr marL="0" indent="0">
              <a:buNone/>
            </a:pPr>
            <a:r>
              <a:rPr lang="en-US" dirty="0"/>
              <a:t>receive(name of source process, message); </a:t>
            </a:r>
          </a:p>
          <a:p>
            <a:pPr marL="0" indent="0">
              <a:buNone/>
            </a:pPr>
            <a:endParaRPr lang="en-US" dirty="0"/>
          </a:p>
          <a:p>
            <a:pPr marL="0" indent="0">
              <a:buNone/>
            </a:pPr>
            <a:endParaRPr lang="en-US" dirty="0"/>
          </a:p>
          <a:p>
            <a:pPr marL="0" indent="0">
              <a:buNone/>
            </a:pPr>
            <a:endParaRPr lang="en-US" dirty="0"/>
          </a:p>
          <a:p>
            <a:pPr marL="0" indent="0">
              <a:buNone/>
            </a:pPr>
            <a:endParaRPr lang="en-US" dirty="0" smtClean="0"/>
          </a:p>
          <a:p>
            <a:pPr marL="0" indent="0">
              <a:buNone/>
            </a:pPr>
            <a:endParaRPr lang="en-US" dirty="0"/>
          </a:p>
          <a:p>
            <a:pPr marL="0" indent="0">
              <a:buNone/>
            </a:pPr>
            <a:endParaRPr lang="en-US" dirty="0" smtClean="0"/>
          </a:p>
          <a:p>
            <a:pPr marL="0" indent="0">
              <a:buNone/>
            </a:pPr>
            <a:r>
              <a:rPr lang="en-US" dirty="0" smtClean="0"/>
              <a:t>In </a:t>
            </a:r>
            <a:r>
              <a:rPr lang="en-US" dirty="0"/>
              <a:t>this calls, the sender and receiver processes address each other by names. Mode of communication between two process can take place through two methods</a:t>
            </a:r>
          </a:p>
          <a:p>
            <a:pPr marL="0" indent="0">
              <a:buNone/>
            </a:pPr>
            <a:r>
              <a:rPr lang="en-US" dirty="0"/>
              <a:t>1) Direct Addressing</a:t>
            </a:r>
          </a:p>
          <a:p>
            <a:pPr marL="0" indent="0">
              <a:buNone/>
            </a:pPr>
            <a:r>
              <a:rPr lang="en-US" dirty="0"/>
              <a:t>2) Indirect Addressing</a:t>
            </a:r>
          </a:p>
          <a:p>
            <a:pPr marL="0" indent="0">
              <a:buNone/>
            </a:pPr>
            <a:endParaRPr lang="en-US" dirty="0"/>
          </a:p>
        </p:txBody>
      </p:sp>
      <p:pic>
        <p:nvPicPr>
          <p:cNvPr id="4" name="Picture 3" descr="Message passing"/>
          <p:cNvPicPr/>
          <p:nvPr/>
        </p:nvPicPr>
        <p:blipFill>
          <a:blip r:embed="rId2">
            <a:extLst>
              <a:ext uri="{28A0092B-C50C-407E-A947-70E740481C1C}">
                <a14:useLocalDpi xmlns:a14="http://schemas.microsoft.com/office/drawing/2010/main" val="0"/>
              </a:ext>
            </a:extLst>
          </a:blip>
          <a:srcRect/>
          <a:stretch>
            <a:fillRect/>
          </a:stretch>
        </p:blipFill>
        <p:spPr bwMode="auto">
          <a:xfrm>
            <a:off x="1447800" y="4038600"/>
            <a:ext cx="5867400" cy="1050227"/>
          </a:xfrm>
          <a:prstGeom prst="rect">
            <a:avLst/>
          </a:prstGeom>
          <a:noFill/>
          <a:ln>
            <a:noFill/>
          </a:ln>
        </p:spPr>
      </p:pic>
    </p:spTree>
    <p:extLst>
      <p:ext uri="{BB962C8B-B14F-4D97-AF65-F5344CB8AC3E}">
        <p14:creationId xmlns:p14="http://schemas.microsoft.com/office/powerpoint/2010/main" val="40911239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Remote Procedure Call (RPC)</a:t>
            </a:r>
            <a:endParaRPr lang="en-US" dirty="0"/>
          </a:p>
        </p:txBody>
      </p:sp>
      <p:sp>
        <p:nvSpPr>
          <p:cNvPr id="3" name="Content Placeholder 2"/>
          <p:cNvSpPr>
            <a:spLocks noGrp="1"/>
          </p:cNvSpPr>
          <p:nvPr>
            <p:ph idx="1"/>
          </p:nvPr>
        </p:nvSpPr>
        <p:spPr/>
        <p:txBody>
          <a:bodyPr>
            <a:normAutofit/>
          </a:bodyPr>
          <a:lstStyle/>
          <a:p>
            <a:pPr algn="just"/>
            <a:r>
              <a:rPr lang="en-US" sz="1800" dirty="0"/>
              <a:t>Remote Procedure Call (RPC) is a powerful technique for constructing distributed, client-server based applications. It is based on extending the conventional local procedure calling so that the called procedure need not exist in the same address space as the calling procedure. The two processes may be on the same system, or they may be on different systems with a network connecting them.</a:t>
            </a:r>
          </a:p>
        </p:txBody>
      </p:sp>
      <p:pic>
        <p:nvPicPr>
          <p:cNvPr id="1026" name="Picture 2" descr="Lightbox"/>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3048000"/>
            <a:ext cx="4474390" cy="35693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53391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Clock Synchronization</a:t>
            </a:r>
            <a:endParaRPr lang="en-US" dirty="0"/>
          </a:p>
        </p:txBody>
      </p:sp>
      <p:sp>
        <p:nvSpPr>
          <p:cNvPr id="3" name="Content Placeholder 2"/>
          <p:cNvSpPr>
            <a:spLocks noGrp="1"/>
          </p:cNvSpPr>
          <p:nvPr>
            <p:ph idx="1"/>
          </p:nvPr>
        </p:nvSpPr>
        <p:spPr/>
        <p:txBody>
          <a:bodyPr>
            <a:normAutofit fontScale="70000" lnSpcReduction="20000"/>
          </a:bodyPr>
          <a:lstStyle/>
          <a:p>
            <a:pPr marL="0" indent="0" algn="just" fontAlgn="base">
              <a:buNone/>
            </a:pPr>
            <a:r>
              <a:rPr lang="en-US" dirty="0"/>
              <a:t>Distributed System is a collection of computers connected via the high speed communication network. In the distributed system, the hardware and software components communicate and coordinate their actions by message passing. Each node in distributed systems can share their resources with other nodes. So, there is need of proper allocation of resources to preserve the state of resources and help coordinate between the several processes. To resolve such conflicts, synchronization is used. Synchronization in distributed systems is achieved via clocks.</a:t>
            </a:r>
          </a:p>
          <a:p>
            <a:pPr algn="just" fontAlgn="base"/>
            <a:r>
              <a:rPr lang="en-US" dirty="0"/>
              <a:t>The physical clocks are used to adjust the time of nodes</a:t>
            </a:r>
            <a:r>
              <a:rPr lang="en-US" dirty="0" smtClean="0"/>
              <a:t>. Each </a:t>
            </a:r>
            <a:r>
              <a:rPr lang="en-US" dirty="0"/>
              <a:t>node in the system can share its local time with other nodes in the system. The time is set based on UTC (Universal Time Coordination). UTC is used as a reference time clock for the nodes in the system.</a:t>
            </a:r>
          </a:p>
          <a:p>
            <a:pPr algn="just"/>
            <a:endParaRPr lang="en-US" dirty="0"/>
          </a:p>
        </p:txBody>
      </p:sp>
    </p:spTree>
    <p:extLst>
      <p:ext uri="{BB962C8B-B14F-4D97-AF65-F5344CB8AC3E}">
        <p14:creationId xmlns:p14="http://schemas.microsoft.com/office/powerpoint/2010/main" val="6141344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Clock </a:t>
            </a:r>
            <a:r>
              <a:rPr lang="en-US" dirty="0" smtClean="0"/>
              <a:t>Synchronization (contd..)</a:t>
            </a:r>
            <a:endParaRPr lang="en-US" dirty="0"/>
          </a:p>
        </p:txBody>
      </p:sp>
      <p:sp>
        <p:nvSpPr>
          <p:cNvPr id="3" name="Content Placeholder 2"/>
          <p:cNvSpPr>
            <a:spLocks noGrp="1"/>
          </p:cNvSpPr>
          <p:nvPr>
            <p:ph idx="1"/>
          </p:nvPr>
        </p:nvSpPr>
        <p:spPr/>
        <p:txBody>
          <a:bodyPr>
            <a:normAutofit fontScale="92500" lnSpcReduction="10000"/>
          </a:bodyPr>
          <a:lstStyle/>
          <a:p>
            <a:pPr marL="0" indent="0" algn="just" fontAlgn="base">
              <a:buNone/>
            </a:pPr>
            <a:r>
              <a:rPr lang="en-US" b="1" dirty="0"/>
              <a:t>The clock synchronization can be achieved by 2 ways: External and Internal Clock Synchronization.</a:t>
            </a:r>
          </a:p>
          <a:p>
            <a:pPr lvl="0" algn="just" fontAlgn="base"/>
            <a:r>
              <a:rPr lang="en-US" b="1" dirty="0"/>
              <a:t>External clock synchronization</a:t>
            </a:r>
            <a:r>
              <a:rPr lang="en-US" dirty="0"/>
              <a:t> is the one in which an external reference clock is present. It is used as a reference and the nodes in the system can set and adjust their time accordingly.</a:t>
            </a:r>
          </a:p>
          <a:p>
            <a:pPr lvl="0" algn="just" fontAlgn="base"/>
            <a:r>
              <a:rPr lang="en-US" b="1" dirty="0"/>
              <a:t>Internal clock synchronization</a:t>
            </a:r>
            <a:r>
              <a:rPr lang="en-US" dirty="0"/>
              <a:t> is the one in which each node shares its time with other nodes and all the nodes set and adjust their times accordingly.</a:t>
            </a:r>
          </a:p>
          <a:p>
            <a:pPr algn="just"/>
            <a:endParaRPr lang="en-US" dirty="0"/>
          </a:p>
        </p:txBody>
      </p:sp>
    </p:spTree>
    <p:extLst>
      <p:ext uri="{BB962C8B-B14F-4D97-AF65-F5344CB8AC3E}">
        <p14:creationId xmlns:p14="http://schemas.microsoft.com/office/powerpoint/2010/main" val="4659113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Clock Synchronization (contd..)</a:t>
            </a:r>
          </a:p>
        </p:txBody>
      </p:sp>
      <p:sp>
        <p:nvSpPr>
          <p:cNvPr id="3" name="Content Placeholder 2"/>
          <p:cNvSpPr>
            <a:spLocks noGrp="1"/>
          </p:cNvSpPr>
          <p:nvPr>
            <p:ph idx="1"/>
          </p:nvPr>
        </p:nvSpPr>
        <p:spPr/>
        <p:txBody>
          <a:bodyPr>
            <a:normAutofit fontScale="70000" lnSpcReduction="20000"/>
          </a:bodyPr>
          <a:lstStyle/>
          <a:p>
            <a:pPr marL="0" indent="0" algn="just" fontAlgn="base">
              <a:buNone/>
            </a:pPr>
            <a:r>
              <a:rPr lang="en-US" dirty="0"/>
              <a:t>There are 2 types of clock synchronization algorithms: Centralized and Distributed.</a:t>
            </a:r>
          </a:p>
          <a:p>
            <a:pPr lvl="0" algn="just" fontAlgn="base"/>
            <a:r>
              <a:rPr lang="en-US" b="1" dirty="0"/>
              <a:t>Centralized</a:t>
            </a:r>
            <a:r>
              <a:rPr lang="en-US" dirty="0"/>
              <a:t> is the one in which a time server is used as a reference. The single time server propagates its time to the nodes and all the nodes adjust the time accordingly. It is dependent on single time server so if that node fails, the whole system will lose synchronization. Examples of centralized are- Berkeley Algorithm, Passive Time Server, Active Time Server etc.</a:t>
            </a:r>
          </a:p>
          <a:p>
            <a:pPr lvl="0" algn="just" fontAlgn="base"/>
            <a:r>
              <a:rPr lang="en-US" b="1" dirty="0"/>
              <a:t>Distributed</a:t>
            </a:r>
            <a:r>
              <a:rPr lang="en-US" dirty="0"/>
              <a:t> is the one in which there is no centralized time server present. Instead the nodes adjust their time by using their local time and then, taking the average of the differences of time with other nodes. Distributed algorithms overcome the issue of centralized algorithms like the scalability and single point failure. Examples of Distributed algorithms are – Global Averaging Algorithm, Localized Averaging Algorithm, NTP (Network time protocol) etc.</a:t>
            </a:r>
          </a:p>
          <a:p>
            <a:pPr algn="just"/>
            <a:endParaRPr lang="en-US" dirty="0"/>
          </a:p>
        </p:txBody>
      </p:sp>
    </p:spTree>
    <p:extLst>
      <p:ext uri="{BB962C8B-B14F-4D97-AF65-F5344CB8AC3E}">
        <p14:creationId xmlns:p14="http://schemas.microsoft.com/office/powerpoint/2010/main" val="6257763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992AB4424D6C04CA5A2D2EFD0CCB497" ma:contentTypeVersion="9" ma:contentTypeDescription="Create a new document." ma:contentTypeScope="" ma:versionID="4e40f99c57dadea91e105e390f85f2bd">
  <xsd:schema xmlns:xsd="http://www.w3.org/2001/XMLSchema" xmlns:xs="http://www.w3.org/2001/XMLSchema" xmlns:p="http://schemas.microsoft.com/office/2006/metadata/properties" xmlns:ns2="44ea191f-1900-44ba-a84f-f2f258cf563f" targetNamespace="http://schemas.microsoft.com/office/2006/metadata/properties" ma:root="true" ma:fieldsID="aa133c6bac81a3b54982dfbf65c34a67" ns2:_="">
    <xsd:import namespace="44ea191f-1900-44ba-a84f-f2f258cf563f"/>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4ea191f-1900-44ba-a84f-f2f258cf56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Length (seconds)" ma:internalName="MediaLengthInSeconds" ma:readOnly="true">
      <xsd:simpleType>
        <xsd:restriction base="dms:Unknow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Location" ma:index="16"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EA1D12B-DD9B-48D2-B5B5-FA8CB3D518C6}"/>
</file>

<file path=customXml/itemProps2.xml><?xml version="1.0" encoding="utf-8"?>
<ds:datastoreItem xmlns:ds="http://schemas.openxmlformats.org/officeDocument/2006/customXml" ds:itemID="{83790E4F-797E-4212-AD55-38B9DD327A33}"/>
</file>

<file path=customXml/itemProps3.xml><?xml version="1.0" encoding="utf-8"?>
<ds:datastoreItem xmlns:ds="http://schemas.openxmlformats.org/officeDocument/2006/customXml" ds:itemID="{C2004E87-ED69-4998-972C-95CE791E99CC}"/>
</file>

<file path=docProps/app.xml><?xml version="1.0" encoding="utf-8"?>
<Properties xmlns="http://schemas.openxmlformats.org/officeDocument/2006/extended-properties" xmlns:vt="http://schemas.openxmlformats.org/officeDocument/2006/docPropsVTypes">
  <TotalTime>337</TotalTime>
  <Words>903</Words>
  <Application>Microsoft Office PowerPoint</Application>
  <PresentationFormat>On-screen Show (4:3)</PresentationFormat>
  <Paragraphs>118</Paragraphs>
  <Slides>19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Georgia</vt:lpstr>
      <vt:lpstr>Office Theme</vt:lpstr>
      <vt:lpstr>Unit 9</vt:lpstr>
      <vt:lpstr>Distributed System</vt:lpstr>
      <vt:lpstr>Distributed Operating System</vt:lpstr>
      <vt:lpstr>Why distributed system?</vt:lpstr>
      <vt:lpstr>Advantages of Distributed OS</vt:lpstr>
      <vt:lpstr>Disadvantages of Distributed OS</vt:lpstr>
      <vt:lpstr>Advantages of Distributed system over Independent PCs</vt:lpstr>
      <vt:lpstr>Hardware and Software Concepts</vt:lpstr>
      <vt:lpstr>Hardware Concepts (Contd..)</vt:lpstr>
      <vt:lpstr>Hardware Concepts (Contd..)</vt:lpstr>
      <vt:lpstr>Hardware Concepts (Contd..)</vt:lpstr>
      <vt:lpstr>Hardware Concepts (Contd..)</vt:lpstr>
      <vt:lpstr>Software Concepts</vt:lpstr>
      <vt:lpstr>Communication in Distributed System</vt:lpstr>
      <vt:lpstr>Communication in Distributed System (Contd…)</vt:lpstr>
      <vt:lpstr>Remote Procedure Call (RPC)</vt:lpstr>
      <vt:lpstr>Clock Synchronization</vt:lpstr>
      <vt:lpstr>Clock Synchronization (contd..)</vt:lpstr>
      <vt:lpstr>Clock Synchronization (contd..)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DISTRIBUTED OPERATING SYSTEM</dc:title>
  <dc:creator>subash siwa</dc:creator>
  <cp:lastModifiedBy>DELL</cp:lastModifiedBy>
  <cp:revision>25</cp:revision>
  <dcterms:created xsi:type="dcterms:W3CDTF">2021-03-28T11:31:15Z</dcterms:created>
  <dcterms:modified xsi:type="dcterms:W3CDTF">2021-04-23T01:28:55Z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0x010100C992AB4424D6C04CA5A2D2EFD0CCB497</vt:lpwstr>
  </property>
</Properties>
</file>